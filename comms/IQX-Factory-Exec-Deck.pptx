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082735" y="-1097280"/>
            <a:ext cx="4206240" cy="4206240"/>
          </a:xfrm>
          <a:prstGeom prst="ellipse">
            <a:avLst/>
          </a:prstGeom>
          <a:solidFill>
            <a:srgbClr val="ED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71455" y="-640080"/>
            <a:ext cx="2377440" cy="2377440"/>
          </a:xfrm>
          <a:prstGeom prst="ellipse">
            <a:avLst/>
          </a:prstGeom>
          <a:solidFill>
            <a:srgbClr val="E0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spc="220">
                <a:solidFill>
                  <a:srgbClr val="2E8BC0"/>
                </a:solidFill>
                <a:latin typeface="Segoe UI Semibold"/>
              </a:rPr>
              <a:t>FROM BESPOKE TO REPEATABLE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34440"/>
            <a:ext cx="8686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5400" b="1">
                <a:solidFill>
                  <a:srgbClr val="0F1B2D"/>
                </a:solidFill>
                <a:latin typeface="Segoe UI Semibold"/>
              </a:rPr>
              <a:t>The IQX Factory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8778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1B5E8A"/>
                </a:solidFill>
                <a:latin typeface="Segoe UI Light"/>
              </a:rPr>
              <a:t>Turning hand-built offerings into a repeatable engine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383280"/>
            <a:ext cx="2880360" cy="1417320"/>
          </a:xfrm>
          <a:prstGeom prst="roundRect">
            <a:avLst>
              <a:gd name="adj" fmla="val 8000"/>
            </a:avLst>
          </a:prstGeom>
          <a:solidFill>
            <a:srgbClr val="EDF2F6"/>
          </a:solidFill>
          <a:ln>
            <a:noFill/>
          </a:ln>
          <a:effectLst/>
          <a:effectLst>
            <a:outerShdw blurRad="90000" dist="38100" dir="5400000" rotWithShape="0">
              <a:srgbClr val="1B2A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584448"/>
            <a:ext cx="2423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F1B2D"/>
                </a:solidFill>
                <a:latin typeface="Segoe UI Semibold"/>
              </a:rPr>
              <a:t>Hand-built craft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041648"/>
            <a:ext cx="2423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B6B7B"/>
                </a:solidFill>
                <a:latin typeface="Segoe UI"/>
              </a:rPr>
              <a:t>Expert, valuable — but slow and hard to scale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3383280"/>
            <a:ext cx="2880360" cy="141732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>
            <a:noFill/>
          </a:ln>
          <a:effectLst/>
          <a:effectLst>
            <a:outerShdw blurRad="90000" dist="38100" dir="5400000" rotWithShape="0">
              <a:srgbClr val="1B2A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3584448"/>
            <a:ext cx="2423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Segoe UI Semibold"/>
              </a:rPr>
              <a:t>An AI-driven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4041648"/>
            <a:ext cx="2423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EDF2F6"/>
                </a:solidFill>
                <a:latin typeface="Segoe UI"/>
              </a:rPr>
              <a:t>Verndale's methodology, encoded and repeatable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3383280"/>
            <a:ext cx="2880360" cy="1417320"/>
          </a:xfrm>
          <a:prstGeom prst="roundRect">
            <a:avLst>
              <a:gd name="adj" fmla="val 8000"/>
            </a:avLst>
          </a:prstGeom>
          <a:solidFill>
            <a:srgbClr val="2E8BC0"/>
          </a:solidFill>
          <a:ln>
            <a:noFill/>
          </a:ln>
          <a:effectLst/>
          <a:effectLst>
            <a:outerShdw blurRad="90000" dist="38100" dir="5400000" rotWithShape="0">
              <a:srgbClr val="1B2A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3584448"/>
            <a:ext cx="2423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Segoe UI Semibold"/>
              </a:rPr>
              <a:t>Many offerings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4041648"/>
            <a:ext cx="2423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EDF2F6"/>
                </a:solidFill>
                <a:latin typeface="Segoe UI"/>
              </a:rPr>
              <a:t>Point it at an industry; a market-ready offering comes out</a:t>
            </a:r>
          </a:p>
        </p:txBody>
      </p:sp>
      <p:sp>
        <p:nvSpPr>
          <p:cNvPr id="17" name="Chevron 16"/>
          <p:cNvSpPr/>
          <p:nvPr/>
        </p:nvSpPr>
        <p:spPr>
          <a:xfrm>
            <a:off x="3749040" y="3945636"/>
            <a:ext cx="411480" cy="292608"/>
          </a:xfrm>
          <a:prstGeom prst="chevron">
            <a:avLst/>
          </a:prstGeom>
          <a:solidFill>
            <a:srgbClr val="1B5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evron 17"/>
          <p:cNvSpPr/>
          <p:nvPr/>
        </p:nvSpPr>
        <p:spPr>
          <a:xfrm>
            <a:off x="7132320" y="3945636"/>
            <a:ext cx="411480" cy="292608"/>
          </a:xfrm>
          <a:prstGeom prst="chevron">
            <a:avLst/>
          </a:prstGeom>
          <a:solidFill>
            <a:srgbClr val="1B5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257800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6B7B"/>
                </a:solidFill>
                <a:latin typeface="Segoe UI"/>
              </a:rPr>
              <a:t>Verndale has proven it can build industry offerings — BankIQX is the first. The Factory lets us produce them repeatably, for any industry.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spc="80">
                <a:solidFill>
                  <a:srgbClr val="5B6B7B"/>
                </a:solidFill>
                <a:latin typeface="Segoe UI"/>
              </a:rPr>
              <a:t>Verndale  ·  Data &amp; Analytics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68735" y="635508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B6B7B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54480"/>
            <a:ext cx="12191695" cy="54864"/>
          </a:xfrm>
          <a:prstGeom prst="rect">
            <a:avLst/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spc="220">
                <a:solidFill>
                  <a:srgbClr val="14B8A6"/>
                </a:solidFill>
                <a:latin typeface="Segoe UI Semibold"/>
              </a:rPr>
              <a:t>A COMPLETE OFFERING, NOT A DOCUMENT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Segoe UI Semibold"/>
              </a:rPr>
              <a:t>One run, a market-ready offering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5B6B7B"/>
                </a:solidFill>
                <a:latin typeface="Segoe UI"/>
              </a:rPr>
              <a:t>Everything needed to take an industry offering to market — delivered as one package.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14600"/>
            <a:ext cx="5166360" cy="1783080"/>
          </a:xfrm>
          <a:prstGeom prst="roundRect">
            <a:avLst>
              <a:gd name="adj" fmla="val 6000"/>
            </a:avLst>
          </a:prstGeom>
          <a:solidFill>
            <a:srgbClr val="EDF2F6"/>
          </a:solidFill>
          <a:ln>
            <a:noFill/>
          </a:ln>
          <a:effectLst/>
          <a:effectLst>
            <a:outerShdw blurRad="90000" dist="38100" dir="5400000" rotWithShape="0">
              <a:srgbClr val="1B2A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514600"/>
            <a:ext cx="128016" cy="1783080"/>
          </a:xfrm>
          <a:prstGeom prst="rect">
            <a:avLst/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807208"/>
            <a:ext cx="4434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0F1B2D"/>
                </a:solidFill>
                <a:latin typeface="Segoe UI Semibold"/>
              </a:rPr>
              <a:t>The commercial angle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383280"/>
            <a:ext cx="4434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5B6B7B"/>
                </a:solidFill>
                <a:latin typeface="Segoe UI"/>
              </a:rPr>
              <a:t>The validated wedge — where we win and why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514600"/>
            <a:ext cx="5166360" cy="1783080"/>
          </a:xfrm>
          <a:prstGeom prst="roundRect">
            <a:avLst>
              <a:gd name="adj" fmla="val 6000"/>
            </a:avLst>
          </a:prstGeom>
          <a:solidFill>
            <a:srgbClr val="EDF2F6"/>
          </a:solidFill>
          <a:ln>
            <a:noFill/>
          </a:ln>
          <a:effectLst/>
          <a:effectLst>
            <a:outerShdw blurRad="90000" dist="38100" dir="5400000" rotWithShape="0">
              <a:srgbClr val="1B2A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2514600"/>
            <a:ext cx="128016" cy="178308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2807208"/>
            <a:ext cx="4434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0F1B2D"/>
                </a:solidFill>
                <a:latin typeface="Segoe UI Semibold"/>
              </a:rPr>
              <a:t>The offering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3383280"/>
            <a:ext cx="4434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5B6B7B"/>
                </a:solidFill>
                <a:latin typeface="Segoe UI"/>
              </a:rPr>
              <a:t>A use-case library and the customer-360 data model behind 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617720"/>
            <a:ext cx="5166360" cy="1783080"/>
          </a:xfrm>
          <a:prstGeom prst="roundRect">
            <a:avLst>
              <a:gd name="adj" fmla="val 6000"/>
            </a:avLst>
          </a:prstGeom>
          <a:solidFill>
            <a:srgbClr val="EDF2F6"/>
          </a:solidFill>
          <a:ln>
            <a:noFill/>
          </a:ln>
          <a:effectLst/>
          <a:effectLst>
            <a:outerShdw blurRad="90000" dist="38100" dir="5400000" rotWithShape="0">
              <a:srgbClr val="1B2A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4617720"/>
            <a:ext cx="128016" cy="1783080"/>
          </a:xfrm>
          <a:prstGeom prst="rect">
            <a:avLst/>
          </a:prstGeom>
          <a:solidFill>
            <a:srgbClr val="1B5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4910328"/>
            <a:ext cx="4434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0F1B2D"/>
                </a:solidFill>
                <a:latin typeface="Segoe UI Semibold"/>
              </a:rPr>
              <a:t>The go-to-market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5486400"/>
            <a:ext cx="4434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5B6B7B"/>
                </a:solidFill>
                <a:latin typeface="Segoe UI"/>
              </a:rPr>
              <a:t>Value case, positioning, and sales enablement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4617720"/>
            <a:ext cx="5166360" cy="1783080"/>
          </a:xfrm>
          <a:prstGeom prst="roundRect">
            <a:avLst>
              <a:gd name="adj" fmla="val 6000"/>
            </a:avLst>
          </a:prstGeom>
          <a:solidFill>
            <a:srgbClr val="EDF2F6"/>
          </a:solidFill>
          <a:ln>
            <a:noFill/>
          </a:ln>
          <a:effectLst/>
          <a:effectLst>
            <a:outerShdw blurRad="90000" dist="38100" dir="5400000" rotWithShape="0">
              <a:srgbClr val="1B2A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4617720"/>
            <a:ext cx="128016" cy="178308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4910328"/>
            <a:ext cx="4434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0F1B2D"/>
                </a:solidFill>
                <a:latin typeface="Segoe UI Semibold"/>
              </a:rPr>
              <a:t>The proof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5486400"/>
            <a:ext cx="4434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5B6B7B"/>
                </a:solidFill>
                <a:latin typeface="Segoe UI"/>
              </a:rPr>
              <a:t>A working Sigma + Snowflake prototype prospects can see and click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spc="80">
                <a:solidFill>
                  <a:srgbClr val="5B6B7B"/>
                </a:solidFill>
                <a:latin typeface="Segoe UI"/>
              </a:rPr>
              <a:t>Verndale  ·  Data &amp; Analytics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68735" y="635508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B6B7B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spc="220">
                <a:solidFill>
                  <a:srgbClr val="2E8BC0"/>
                </a:solidFill>
                <a:latin typeface="Segoe UI Semibold"/>
              </a:rPr>
              <a:t>FAST, CREDIBLE, AND BUILT TO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058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>
                <a:solidFill>
                  <a:srgbClr val="0F1B2D"/>
                </a:solidFill>
                <a:latin typeface="Segoe UI Semibold"/>
              </a:rPr>
              <a:t>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>
                <a:solidFill>
                  <a:srgbClr val="5B6B7B"/>
                </a:solidFill>
                <a:latin typeface="Segoe UI"/>
              </a:rPr>
              <a:t>The Factory turns offering creation into a compounding, low-risk advantage.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514600"/>
            <a:ext cx="2542032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FDAE3"/>
            </a:solidFill>
          </a:ln>
          <a:effectLst/>
          <a:effectLst>
            <a:outerShdw blurRad="90000" dist="38100" dir="5400000" rotWithShape="0">
              <a:srgbClr val="1B2A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2788920"/>
            <a:ext cx="502920" cy="502920"/>
          </a:xfrm>
          <a:prstGeom prst="ellipse">
            <a:avLst/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852928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74720"/>
            <a:ext cx="199339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F1B2D"/>
                </a:solidFill>
                <a:latin typeface="Segoe UI Semibold"/>
              </a:rPr>
              <a:t>Speed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931920"/>
            <a:ext cx="199339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B6B7B"/>
                </a:solidFill>
                <a:latin typeface="Segoe UI"/>
              </a:rPr>
              <a:t>Enter new industries in a fraction of the usual 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2514600"/>
            <a:ext cx="2542032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FDAE3"/>
            </a:solidFill>
          </a:ln>
          <a:effectLst/>
          <a:effectLst>
            <a:outerShdw blurRad="90000" dist="38100" dir="5400000" rotWithShape="0">
              <a:srgbClr val="1B2A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840480" y="2788920"/>
            <a:ext cx="502920" cy="50292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2852928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474720"/>
            <a:ext cx="199339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F1B2D"/>
                </a:solidFill>
                <a:latin typeface="Segoe UI Semibold"/>
              </a:rPr>
              <a:t>Consistency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931920"/>
            <a:ext cx="199339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B6B7B"/>
                </a:solidFill>
                <a:latin typeface="Segoe UI"/>
              </a:rPr>
              <a:t>The same rigor and standard every time, whoever runs 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514600"/>
            <a:ext cx="2542032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FDAE3"/>
            </a:solidFill>
          </a:ln>
          <a:effectLst/>
          <a:effectLst>
            <a:outerShdw blurRad="90000" dist="38100" dir="5400000" rotWithShape="0">
              <a:srgbClr val="1B2A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83680" y="2788920"/>
            <a:ext cx="502920" cy="502920"/>
          </a:xfrm>
          <a:prstGeom prst="ellipse">
            <a:avLst/>
          </a:prstGeom>
          <a:solidFill>
            <a:srgbClr val="1B5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2852928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474720"/>
            <a:ext cx="199339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F1B2D"/>
                </a:solidFill>
                <a:latin typeface="Segoe UI Semibold"/>
              </a:rPr>
              <a:t>Credible by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931920"/>
            <a:ext cx="199339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B6B7B"/>
                </a:solidFill>
                <a:latin typeface="Segoe UI"/>
              </a:rPr>
              <a:t>Human-approved at key steps, evidence-backed claims, a technically honest prototype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2514600"/>
            <a:ext cx="2542032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FDAE3"/>
            </a:solidFill>
          </a:ln>
          <a:effectLst/>
          <a:effectLst>
            <a:outerShdw blurRad="90000" dist="38100" dir="5400000" rotWithShape="0">
              <a:srgbClr val="1B2A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326880" y="2788920"/>
            <a:ext cx="502920" cy="502920"/>
          </a:xfrm>
          <a:prstGeom prst="ellipse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2852928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3474720"/>
            <a:ext cx="199339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F1B2D"/>
                </a:solidFill>
                <a:latin typeface="Segoe UI Semibold"/>
              </a:rPr>
              <a:t>Scale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3931920"/>
            <a:ext cx="199339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B6B7B"/>
                </a:solidFill>
                <a:latin typeface="Segoe UI"/>
              </a:rPr>
              <a:t>One engine, many industries — each new offering easier than the last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spc="80">
                <a:solidFill>
                  <a:srgbClr val="5B6B7B"/>
                </a:solidFill>
                <a:latin typeface="Segoe UI"/>
              </a:rPr>
              <a:t>Verndale  ·  Data &amp; Analytics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8735" y="635508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B6B7B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1B5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spc="220">
                <a:solidFill>
                  <a:srgbClr val="14B8A6"/>
                </a:solidFill>
                <a:latin typeface="Segoe UI Semibold"/>
              </a:rPr>
              <a:t>A GROWING FAMILY OF IQX OFFERINGS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Segoe UI Semibold"/>
              </a:rPr>
              <a:t>BankIQX today. A portfolio tomorrow.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EDF2F6"/>
                </a:solidFill>
                <a:latin typeface="Segoe UI Light"/>
              </a:rPr>
              <a:t>The same engine widens Verndale's moat with every new offering.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291840"/>
            <a:ext cx="2423160" cy="1691640"/>
          </a:xfrm>
          <a:prstGeom prst="roundRect">
            <a:avLst>
              <a:gd name="adj" fmla="val 7000"/>
            </a:avLst>
          </a:prstGeom>
          <a:solidFill>
            <a:srgbClr val="2E8BC0"/>
          </a:solidFill>
          <a:ln>
            <a:noFill/>
          </a:ln>
          <a:effectLst/>
          <a:effectLst>
            <a:outerShdw blurRad="90000" dist="38100" dir="5400000" rotWithShape="0">
              <a:srgbClr val="1B2A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3703320"/>
            <a:ext cx="1965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>
                <a:solidFill>
                  <a:srgbClr val="FFFFFF"/>
                </a:solidFill>
                <a:latin typeface="Segoe UI Semibold"/>
              </a:rPr>
              <a:t>BankIQX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4251960"/>
            <a:ext cx="1965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EDF2F6"/>
                </a:solidFill>
                <a:latin typeface="Segoe UI"/>
              </a:rPr>
              <a:t>In market today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3291840"/>
            <a:ext cx="2423160" cy="1691640"/>
          </a:xfrm>
          <a:prstGeom prst="roundRect">
            <a:avLst>
              <a:gd name="adj" fmla="val 7000"/>
            </a:avLst>
          </a:prstGeom>
          <a:noFill/>
          <a:ln w="17780">
            <a:solidFill>
              <a:srgbClr val="3C59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76472" y="3703320"/>
            <a:ext cx="1965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>
                <a:solidFill>
                  <a:srgbClr val="FFFFFF"/>
                </a:solidFill>
                <a:latin typeface="Segoe UI Semibold"/>
              </a:rPr>
              <a:t>StudentIQX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76472" y="4251960"/>
            <a:ext cx="1965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B6B7B"/>
                </a:solidFill>
                <a:latin typeface="Segoe UI"/>
              </a:rPr>
              <a:t>Next on the same engine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291840"/>
            <a:ext cx="2423160" cy="1691640"/>
          </a:xfrm>
          <a:prstGeom prst="roundRect">
            <a:avLst>
              <a:gd name="adj" fmla="val 7000"/>
            </a:avLst>
          </a:prstGeom>
          <a:noFill/>
          <a:ln w="17780">
            <a:solidFill>
              <a:srgbClr val="3C59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3703320"/>
            <a:ext cx="1965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>
                <a:solidFill>
                  <a:srgbClr val="FFFFFF"/>
                </a:solidFill>
                <a:latin typeface="Segoe UI Semibold"/>
              </a:rPr>
              <a:t>Industry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4251960"/>
            <a:ext cx="1965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B6B7B"/>
                </a:solidFill>
                <a:latin typeface="Segoe UI"/>
              </a:rPr>
              <a:t>Stood up faster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400" y="3291840"/>
            <a:ext cx="2423160" cy="1691640"/>
          </a:xfrm>
          <a:prstGeom prst="roundRect">
            <a:avLst>
              <a:gd name="adj" fmla="val 7000"/>
            </a:avLst>
          </a:prstGeom>
          <a:noFill/>
          <a:ln w="17780">
            <a:solidFill>
              <a:srgbClr val="3C59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71432" y="3703320"/>
            <a:ext cx="1965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>
                <a:solidFill>
                  <a:srgbClr val="FFFFFF"/>
                </a:solidFill>
                <a:latin typeface="Segoe UI Semibold"/>
              </a:rPr>
              <a:t>And beyond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71432" y="4251960"/>
            <a:ext cx="1965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B6B7B"/>
                </a:solidFill>
                <a:latin typeface="Segoe UI"/>
              </a:rPr>
              <a:t>A widening library of reusable 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440680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4B8A6"/>
                </a:solidFill>
                <a:latin typeface="Segoe UI Semibold"/>
              </a:rPr>
              <a:t>A compounding asset — not one-off work.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82735" y="635508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spc="80">
                <a:solidFill>
                  <a:srgbClr val="5B6B7B"/>
                </a:solidFill>
                <a:latin typeface="Segoe UI"/>
              </a:rPr>
              <a:t>Verndale  ·  Data &amp; Analytics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